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7" r:id="rId4"/>
    <p:sldId id="262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81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751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097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097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5097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5097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2646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2646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2646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2646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2646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42646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42646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90195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0195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90195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90195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90195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90195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90195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37744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37744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37744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37744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37744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85292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85292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85292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85292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85292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85292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85292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32841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32841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32841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32841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32841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32841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332841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80390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380390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80390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80390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380390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380390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80390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27939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27939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27939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27939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27939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27939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27939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475488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75488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75488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75488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475488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475488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475488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523036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523036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23036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23036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23036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23036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23036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570585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70585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70585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570585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570585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570585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570585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618134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618134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618134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618134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18134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618134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618134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665683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665683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665683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665683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665683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665683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665683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7132320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7132320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7132320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7132320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7132320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7132320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7132320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7607808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7607808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7607808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7607808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7607808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7607808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7607808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8083296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8083296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8083296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8083296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8083296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8083296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8083296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8558784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8558784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8558784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8558784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8558784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8558784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8558784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9034272" y="5486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9034272" y="10972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9034272" y="16459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9034272" y="274320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9034272" y="329184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9034272" y="384048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9034272" y="4937760"/>
            <a:ext cx="36576" cy="36576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640080" y="822960"/>
            <a:ext cx="1641348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40080" y="822960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DEEP DIVE</a:t>
            </a:r>
            <a:endParaRPr lang="en-US" sz="800" dirty="0"/>
          </a:p>
        </p:txBody>
      </p:sp>
      <p:sp>
        <p:nvSpPr>
          <p:cNvPr id="206" name="Text 204"/>
          <p:cNvSpPr/>
          <p:nvPr/>
        </p:nvSpPr>
        <p:spPr>
          <a:xfrm>
            <a:off x="548640" y="11887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(RAG)</a:t>
            </a:r>
            <a:endParaRPr lang="en-US" sz="4800" dirty="0"/>
          </a:p>
        </p:txBody>
      </p:sp>
      <p:sp>
        <p:nvSpPr>
          <p:cNvPr id="207" name="Text 205"/>
          <p:cNvSpPr/>
          <p:nvPr/>
        </p:nvSpPr>
        <p:spPr>
          <a:xfrm>
            <a:off x="54864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· Components · Architecture · Real-World Use Cases</a:t>
            </a:r>
            <a:endParaRPr lang="en-US" sz="1600" dirty="0"/>
          </a:p>
        </p:txBody>
      </p:sp>
      <p:sp>
        <p:nvSpPr>
          <p:cNvPr id="208" name="Shape 206"/>
          <p:cNvSpPr/>
          <p:nvPr/>
        </p:nvSpPr>
        <p:spPr>
          <a:xfrm>
            <a:off x="7406640" y="548640"/>
            <a:ext cx="1554480" cy="71323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9" name="Shape 207"/>
          <p:cNvSpPr/>
          <p:nvPr/>
        </p:nvSpPr>
        <p:spPr>
          <a:xfrm>
            <a:off x="7406640" y="548640"/>
            <a:ext cx="155448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0" name="Text 208"/>
          <p:cNvSpPr/>
          <p:nvPr/>
        </p:nvSpPr>
        <p:spPr>
          <a:xfrm>
            <a:off x="7406640" y="54864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RAG Scenarios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7406640" y="1426464"/>
            <a:ext cx="1554480" cy="71323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2" name="Shape 210"/>
          <p:cNvSpPr/>
          <p:nvPr/>
        </p:nvSpPr>
        <p:spPr>
          <a:xfrm>
            <a:off x="7406640" y="1426464"/>
            <a:ext cx="15544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3" name="Text 211"/>
          <p:cNvSpPr/>
          <p:nvPr/>
        </p:nvSpPr>
        <p:spPr>
          <a:xfrm>
            <a:off x="7406640" y="142646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Components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7406640" y="2304288"/>
            <a:ext cx="1554480" cy="71323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5" name="Shape 213"/>
          <p:cNvSpPr/>
          <p:nvPr/>
        </p:nvSpPr>
        <p:spPr>
          <a:xfrm>
            <a:off x="7406640" y="2304288"/>
            <a:ext cx="15544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6" name="Text 214"/>
          <p:cNvSpPr/>
          <p:nvPr/>
        </p:nvSpPr>
        <p:spPr>
          <a:xfrm>
            <a:off x="7406640" y="230428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7406640" y="3182112"/>
            <a:ext cx="1554480" cy="71323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8" name="Shape 216"/>
          <p:cNvSpPr/>
          <p:nvPr/>
        </p:nvSpPr>
        <p:spPr>
          <a:xfrm>
            <a:off x="7406640" y="3182112"/>
            <a:ext cx="15544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9" name="Text 217"/>
          <p:cNvSpPr/>
          <p:nvPr/>
        </p:nvSpPr>
        <p:spPr>
          <a:xfrm>
            <a:off x="7406640" y="318211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7406640" y="4059936"/>
            <a:ext cx="1554480" cy="71323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1" name="Shape 219"/>
          <p:cNvSpPr/>
          <p:nvPr/>
        </p:nvSpPr>
        <p:spPr>
          <a:xfrm>
            <a:off x="7406640" y="4059936"/>
            <a:ext cx="1554480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2" name="Text 220"/>
          <p:cNvSpPr/>
          <p:nvPr/>
        </p:nvSpPr>
        <p:spPr>
          <a:xfrm>
            <a:off x="7406640" y="405993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Use Cases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SLIDE 07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  =  Retrieval Augmented Generation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737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54864" cy="17373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 with LLMs Alone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 (make things up)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company / private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980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issues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023360" cy="1737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73736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RAG Solution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22128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real documents before generating a response — grounding the AI in facts.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128016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37360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01952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01952" y="4023360"/>
            <a:ext cx="128016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901952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82112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46704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46704" y="4023360"/>
            <a:ext cx="12801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346704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26864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91456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4023360"/>
            <a:ext cx="12801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71616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36208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4023360"/>
            <a:ext cx="128016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08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16368" y="41605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80960" y="4023360"/>
            <a:ext cx="1280160" cy="594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80960" y="4023360"/>
            <a:ext cx="12801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4206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Needed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LLMs alone have critical limitations — RAG solves them all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1508760"/>
          </a:xfrm>
          <a:prstGeom prst="rect">
            <a:avLst/>
          </a:prstGeom>
          <a:solidFill>
            <a:srgbClr val="1A2340"/>
          </a:solidFill>
          <a:ln w="1270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plausible but incorrect answers confidently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46320" y="1325880"/>
            <a:ext cx="4114800" cy="1508760"/>
          </a:xfrm>
          <a:prstGeom prst="rect">
            <a:avLst/>
          </a:prstGeom>
          <a:solidFill>
            <a:srgbClr val="1A2340"/>
          </a:solidFill>
          <a:ln w="1270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087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Outdated Knowledge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29200" y="2011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has a cutoff — no real-time information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4114800" cy="1508760"/>
          </a:xfrm>
          <a:prstGeom prst="rect">
            <a:avLst/>
          </a:prstGeom>
          <a:solidFill>
            <a:srgbClr val="1A2340"/>
          </a:solidFill>
          <a:ln w="1270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4008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company-specific or proprietary documents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846320" y="3108960"/>
            <a:ext cx="4114800" cy="1508760"/>
          </a:xfrm>
          <a:prstGeom prst="rect">
            <a:avLst/>
          </a:prstGeom>
          <a:solidFill>
            <a:srgbClr val="1A2340"/>
          </a:solidFill>
          <a:ln w="1270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918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 Fixes All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02920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live, private, and up-to-date external sources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25880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Core Components of RAG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1828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399032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PDFs &amp; Word files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2494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Websites &amp; Databases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Company docs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51760" cy="1828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3444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3990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59352" y="13990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→ numerical vectors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0" y="22494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"What is AI?" → [0.23, 0.91, ...]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0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OpenAI / Sentence Transformers / HuggingFace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51760" cy="1828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234440"/>
            <a:ext cx="265176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3990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39712" y="13990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5508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for fast similarity search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55080" y="22494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FAISS · ChromaDB · Pinecone · Weaviate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2651760" cy="1828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246120"/>
            <a:ext cx="26517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341071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" y="34107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4360" y="3913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Finds most relevant documents by similarity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4360" y="4261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asks 'leave policy' → Retriever finds HR docs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337560" y="3246120"/>
            <a:ext cx="2651760" cy="1828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37560" y="3246120"/>
            <a:ext cx="2651760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0" y="3410712"/>
            <a:ext cx="411480" cy="41148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959352" y="34107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474720" y="3913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final response using: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474720" y="42611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User query  +  Retrieved context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663440"/>
            <a:ext cx="82296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73659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⚡  RAG ≠ Just PDFs  —  RAG = External Knowledge Retrieval + LLM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21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115568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RAG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1600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3990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 RAG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research papers, company docs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2377440" cy="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877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Scenario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51760" cy="1600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3444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50792" y="13990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50792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live DB retrieval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560320"/>
            <a:ext cx="2377440" cy="0"/>
          </a:xfrm>
          <a:prstGeom prst="line">
            <a:avLst/>
          </a:prstGeom>
          <a:noFill/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5877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Scenario 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51760" cy="1600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234440"/>
            <a:ext cx="265176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31152" y="13990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RAG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1152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stock, external APIs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560320"/>
            <a:ext cx="2377440" cy="0"/>
          </a:xfrm>
          <a:prstGeom prst="line">
            <a:avLst/>
          </a:prstGeom>
          <a:noFill/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5877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Scenario 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17520"/>
            <a:ext cx="26517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70432" y="3182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Search RAG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70432" y="36850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latest news articles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4343400"/>
            <a:ext cx="2377440" cy="0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3708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Scenario 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3017520"/>
            <a:ext cx="2651760" cy="1600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37560" y="3017520"/>
            <a:ext cx="2651760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0" name="Shape 38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F43F5E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50792" y="3182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50792" y="36850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Slack, emails, tickets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4343400"/>
            <a:ext cx="2377440" cy="0"/>
          </a:xfrm>
          <a:prstGeom prst="line">
            <a:avLst/>
          </a:prstGeom>
          <a:noFill/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43708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Scenario →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017520"/>
            <a:ext cx="2651760" cy="16002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017520"/>
            <a:ext cx="265176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55080" y="3246120"/>
            <a:ext cx="502920" cy="502920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31152" y="3182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31152" y="36850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combined simultaneously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4343400"/>
            <a:ext cx="2377440" cy="0"/>
          </a:xfrm>
          <a:prstGeom prst="line">
            <a:avLst/>
          </a:prstGeom>
          <a:noFill/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43708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Scenario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61972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61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01 &amp;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RAG  &amp;  Database RAG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36118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3611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Document-Based RAG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beginner RAG pattern.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084832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0848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Document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256032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72491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29968" y="321868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383280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401568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401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29968" y="3877056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041648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4059936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4059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2669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HR docs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023360" cy="36118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234440"/>
            <a:ext cx="54864" cy="3611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Database RAG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737360"/>
            <a:ext cx="37490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my last 5 transactions."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350008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2350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6208" y="2825496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990088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008376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30083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Generated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6208" y="3483864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648456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3666744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36667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Retrieval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36208" y="4142232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306824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4325112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92040" y="4325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61972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61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03 &amp;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RAG  &amp;  Web Search RAG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36118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3611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API-Based RAG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374904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73736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weather in Mumbai today?"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29968" y="280720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971800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990088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29968" y="3465576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630168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648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Received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9968" y="4123944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4288536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306824"/>
            <a:ext cx="274320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3068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23360" cy="36118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54864" cy="3611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Website / Search RAG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737360"/>
            <a:ext cx="374904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4608" y="173736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"Latest AI news today"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2350008"/>
            <a:ext cx="356616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241401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39572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3172968"/>
            <a:ext cx="356616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323697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321868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latest articles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92040" y="3995928"/>
            <a:ext cx="3566160" cy="676656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83480" y="405993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4059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404164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summarizes news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31036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431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0700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customer ABC raise a complaint last month?"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20574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957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CRM Systems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395728"/>
            <a:ext cx="20574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3957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ERP Systems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20574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1868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Ticketing Systems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3218688"/>
            <a:ext cx="20574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97480" y="321868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Slack Messages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20574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4164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4041648"/>
            <a:ext cx="2057400" cy="68580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404164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993392"/>
            <a:ext cx="3749040" cy="288036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993392"/>
            <a:ext cx="54864" cy="28803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057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&amp; Combines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2514600"/>
            <a:ext cx="347472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2514600"/>
            <a:ext cx="73152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25146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3081528"/>
            <a:ext cx="347472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3081528"/>
            <a:ext cx="73152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0815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648456"/>
            <a:ext cx="347472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74920" y="3648456"/>
            <a:ext cx="73152" cy="4754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5230368" y="36484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Records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74920" y="4215384"/>
            <a:ext cx="347472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74920" y="4215384"/>
            <a:ext cx="73152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230368" y="421538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Logs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87752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06 · ADVANCED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&amp; Advanced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3931920" cy="363931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4864" cy="36393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Multi-Source RAG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advanced — all sources combined before LLM generation.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76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176272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1762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 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798064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980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798064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27980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Web 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419856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4198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419856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34198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Slack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4078224"/>
            <a:ext cx="146304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33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All Combined  →  LLM Generation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590288"/>
            <a:ext cx="365760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5902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Final Response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07008"/>
            <a:ext cx="4114800" cy="3639312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207008"/>
            <a:ext cx="54864" cy="36393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280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Architecture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737360"/>
            <a:ext cx="374904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17373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01968" y="219456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35915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286000"/>
            <a:ext cx="374904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2860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Router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01968" y="274320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90779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834640"/>
            <a:ext cx="3749040" cy="438912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2834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Source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410712"/>
            <a:ext cx="3749040" cy="111556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3474720"/>
            <a:ext cx="3474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PDF Search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75888"/>
            <a:ext cx="3474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SQL Database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877056"/>
            <a:ext cx="3474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API Calls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78224"/>
            <a:ext cx="3474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Web Search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279392"/>
            <a:ext cx="3474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Vector DB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01968" y="454456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4709160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590288"/>
            <a:ext cx="3749040" cy="47548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0" y="4590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Context  →  LLM  →  Final Response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67128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29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AI Agent — Multi-Source RAG in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4588"/>
            <a:ext cx="8229600" cy="54864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75285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"Suggest best hotel in Goa with good weather this weekend."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59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 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2971800" cy="41148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591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359152"/>
            <a:ext cx="5120640" cy="41148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3591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971800" cy="5029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16352"/>
            <a:ext cx="6400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1635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2816352"/>
            <a:ext cx="51206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816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weather forecast for Goa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2971800" cy="5029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64008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832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DB /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383280"/>
            <a:ext cx="51206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availability, amenities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2971800" cy="5029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50208"/>
            <a:ext cx="6400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95020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API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66160" y="3950208"/>
            <a:ext cx="51206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39502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attractions &amp; places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17136"/>
            <a:ext cx="2971800" cy="50292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517136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51713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66160" y="4517136"/>
            <a:ext cx="512064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0" y="45171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ratings &amp; recent reviews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1333500"/>
            <a:ext cx="8229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14051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LLM combines all sources and replies naturally in one intelligent response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61972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61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USE CASES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Powerful &amp; Example Use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3840480" cy="36118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4864" cy="36118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Alone Cannot…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356616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373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Access live / real-time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356616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3957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Query company systems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054096"/>
            <a:ext cx="356616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5409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Search databases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356616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7124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Know private company info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2031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Gives…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08860" y="43632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memory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3952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External intelligence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5796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information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1207008"/>
            <a:ext cx="4206240" cy="3611880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207008"/>
            <a:ext cx="54864" cy="3611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280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 Cases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737360"/>
            <a:ext cx="39319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801368"/>
            <a:ext cx="292608" cy="2926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801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10912" y="17373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048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support, HR bots, banking assistants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395728"/>
            <a:ext cx="39319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5973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239572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27066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from PDFs, research papers, policies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054096"/>
            <a:ext cx="39319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11810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10912" y="30540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3364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latest medical info before answering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3712464"/>
            <a:ext cx="39319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77647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10912" y="37124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 Assistants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10912" y="4023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legal documents for accurate responses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4370832"/>
            <a:ext cx="393192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4434840"/>
            <a:ext cx="292608" cy="29260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4434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10912" y="43708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10912" y="4681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internal company knowledge bases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6180" y="-1828800"/>
            <a:ext cx="8229600" cy="82296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010412" cy="256032"/>
          </a:xfrm>
          <a:prstGeom prst="rect">
            <a:avLst/>
          </a:prstGeom>
          <a:solidFill>
            <a:srgbClr val="1019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"/>
            <a:ext cx="54864" cy="5669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4114800" cy="11155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41148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RAG Scenarios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Doc, DB, API, Web, Enterprise, Multi-Source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114800" cy="11155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34440"/>
            <a:ext cx="41148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Components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764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→ Embedding → Vector DB → Retriever → LLM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4114800" cy="11155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96312"/>
            <a:ext cx="41148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0266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Router selects the right source dynamically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496312"/>
            <a:ext cx="4114800" cy="11155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96312"/>
            <a:ext cx="4114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Power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0266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agents, enterprise search, medical AI, legal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58184"/>
            <a:ext cx="4114800" cy="11155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58184"/>
            <a:ext cx="4114800" cy="914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8953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≠ Just PDFs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Any External Knowledge Source + LLM Generation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758184"/>
            <a:ext cx="4114800" cy="1115568"/>
          </a:xfrm>
          <a:prstGeom prst="rect">
            <a:avLst/>
          </a:prstGeom>
          <a:solidFill>
            <a:srgbClr val="161F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758184"/>
            <a:ext cx="411480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8953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42885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LLMs real-time memory, live data, enterprise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129540"/>
            <a:ext cx="8229600" cy="28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Real-time Memory + External Intelligence + Live Access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855</Words>
  <Application>Microsoft Office PowerPoint</Application>
  <PresentationFormat>On-screen Show (16:9)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— Scenarios, Components &amp; Real-World Applications</dc:title>
  <dc:subject>PptxGenJS Presentation</dc:subject>
  <dc:creator>PptxGenJS</dc:creator>
  <cp:lastModifiedBy>User</cp:lastModifiedBy>
  <cp:revision>6</cp:revision>
  <dcterms:created xsi:type="dcterms:W3CDTF">2026-05-18T05:43:49Z</dcterms:created>
  <dcterms:modified xsi:type="dcterms:W3CDTF">2026-05-19T04:46:53Z</dcterms:modified>
</cp:coreProperties>
</file>